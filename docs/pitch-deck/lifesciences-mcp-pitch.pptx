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92188" y="1536799"/>
            <a:ext cx="61594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Sciences MCP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368859" y="2213074"/>
            <a:ext cx="440628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AI for Drug Discovery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21597" y="2819400"/>
            <a:ext cx="63008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researcher question to connected knowledge graph in seconds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4746724"/>
            <a:ext cx="12162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lifesciences-research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6608" y="4746724"/>
            <a:ext cx="7848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LLMs Hallucinate Biomedical Knowledge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77677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status quo is broken: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34877"/>
            <a:ext cx="1841599" cy="147280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634877"/>
            <a:ext cx="0" cy="1472803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6075" y="1825377"/>
            <a:ext cx="14412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Authoritative Access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6075" y="2206377"/>
            <a:ext cx="1441234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rely on stale training data or hallucinate drug-target interactions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3450" y="1634877"/>
            <a:ext cx="1841599" cy="147280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27263" y="1634877"/>
            <a:ext cx="0" cy="1472803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41575" y="1825377"/>
            <a:ext cx="14412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Fragmentation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41575" y="2206377"/>
            <a:ext cx="1441234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BRCA1 = HGNC:1100 = P38398 = ENSG00000012048 = 672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950" y="1634877"/>
            <a:ext cx="1841599" cy="147280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22763" y="1634877"/>
            <a:ext cx="0" cy="1472803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075" y="1825377"/>
            <a:ext cx="14412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Integration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075" y="2053977"/>
            <a:ext cx="1441234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Days/weeks per database; code breaks when APIs change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94450" y="1634877"/>
            <a:ext cx="1841599" cy="147280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18263" y="1634877"/>
            <a:ext cx="0" cy="1472803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32575" y="1825377"/>
            <a:ext cx="14412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Overload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32575" y="2053977"/>
            <a:ext cx="1441234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Scientists become integration engineers instead of researchers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950" y="4140250"/>
            <a:ext cx="8128099" cy="6858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5648" y="4330750"/>
            <a:ext cx="7772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asked about drug-target interactions, LLMs either hallucinate or rely on stale training data."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648" y="4483150"/>
            <a:ext cx="7772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spend 60-80% of their time on data wrangling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Platform Engineering for Biomedical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14127"/>
            <a:ext cx="398350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Authoritative APIs in Unified MCP Interface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742777"/>
            <a:ext cx="3905399" cy="204013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Fuzzy-to-Fact Protocol: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Natural language to canonical identifiers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 graph: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 multi-hop traversal between databases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budgeting: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slim=True reduces 115+ tokens to 20 tokens per entity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hints: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Error envelopes guide agent self-correction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patterns: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schema across all 12 servers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30800" y="1114127"/>
            <a:ext cx="3905399" cy="6413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54612" y="1114127"/>
            <a:ext cx="0" cy="64130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68925" y="1266527"/>
            <a:ext cx="35463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MCP NODES (Verified Entities)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8925" y="1469678"/>
            <a:ext cx="35463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FastMCP servers with canonical CURIEs + cross-references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30800" y="1882378"/>
            <a:ext cx="3905399" cy="6413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54612" y="1882378"/>
            <a:ext cx="0" cy="641300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8925" y="2034778"/>
            <a:ext cx="35463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CURL EDGES (Relationship Discovery)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8925" y="2237929"/>
            <a:ext cx="35463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skills for bulk traversal without protocol overhead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30800" y="2650629"/>
            <a:ext cx="3905399" cy="6413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54612" y="2650629"/>
            <a:ext cx="0" cy="641300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8925" y="2803029"/>
            <a:ext cx="35463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GRAPHITI (Research Memory)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8925" y="3006179"/>
            <a:ext cx="35463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validated findings as structured episodes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1265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Evidence: Structured APIs Outperform Retrieval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530102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Results from 2025 Research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3927128"/>
            <a:ext cx="8128099" cy="4572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48" y="4079528"/>
            <a:ext cx="7772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Canonical CURIEs, typed entities, and evidence scores are what benchmarks prove works.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4511278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Xu et al. (2025) "BTE-RAG" bioRxiv; Wang et al. (2025) "RAG in Biomedicine" JAMIA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958727"/>
          <a:ext cx="8127950" cy="1777901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371600"/>
                <a:gridCol w="1828800"/>
              </a:tblGrid>
              <a:tr h="4444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Study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With APIs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4444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BTE-RAG (GPT-4o mini)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75.8%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A8A7"/>
                          </a:solidFill>
                        </a:rPr>
                        <a:t>+24.8 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4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BTE-RAG (GPT-4o)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69.8%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78.6%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A8A7"/>
                          </a:solidFill>
                        </a:rPr>
                        <a:t>+8.8 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4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RAG Systematic Review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1.35x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A8A7"/>
                          </a:solidFill>
                        </a:rPr>
                        <a:t>+35% odds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Pillar 1: Rapid API Scaffolding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14127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/scaffold-fastmcp Generates: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04652"/>
            <a:ext cx="3905399" cy="61912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504652"/>
            <a:ext cx="0" cy="619125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8450" y="1657052"/>
            <a:ext cx="36337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8450" y="1838027"/>
            <a:ext cx="3633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httpx client with rate limiting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2225278"/>
            <a:ext cx="3905399" cy="61912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2225278"/>
            <a:ext cx="0" cy="619125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450" y="2377678"/>
            <a:ext cx="36337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8450" y="2558653"/>
            <a:ext cx="3633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FastMCP server with tool stubs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2945904"/>
            <a:ext cx="3905399" cy="61912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2945904"/>
            <a:ext cx="0" cy="619125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450" y="3098304"/>
            <a:ext cx="36337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450" y="3279279"/>
            <a:ext cx="3633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models with CURIE validation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666530"/>
            <a:ext cx="3905399" cy="61912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7000" y="3666530"/>
            <a:ext cx="0" cy="619125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450" y="3818930"/>
            <a:ext cx="36337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8450" y="3999905"/>
            <a:ext cx="3633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 scaffolding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30800" y="1114127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Statistics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30800" y="1972866"/>
            <a:ext cx="3905399" cy="0"/>
          </a:xfrm>
          <a:prstGeom prst="line">
            <a:avLst/>
          </a:prstGeom>
          <a:noFill/>
          <a:ln w="9525">
            <a:solidFill>
              <a:srgbClr val="E5E7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0800" y="1631603"/>
            <a:ext cx="8760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8406" y="1631603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30800" y="2445841"/>
            <a:ext cx="3905399" cy="0"/>
          </a:xfrm>
          <a:prstGeom prst="line">
            <a:avLst/>
          </a:prstGeom>
          <a:noFill/>
          <a:ln w="9525">
            <a:solidFill>
              <a:srgbClr val="E5E7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0800" y="2104579"/>
            <a:ext cx="7306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35851" y="2104579"/>
            <a:ext cx="4083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600+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30800" y="2918817"/>
            <a:ext cx="3905399" cy="0"/>
          </a:xfrm>
          <a:prstGeom prst="line">
            <a:avLst/>
          </a:prstGeom>
          <a:noFill/>
          <a:ln w="9525">
            <a:solidFill>
              <a:srgbClr val="E5E7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0800" y="2577554"/>
            <a:ext cx="735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LOC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91500" y="2577554"/>
            <a:ext cx="4535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8,200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30800" y="3391793"/>
            <a:ext cx="3905399" cy="0"/>
          </a:xfrm>
          <a:prstGeom prst="line">
            <a:avLst/>
          </a:prstGeom>
          <a:noFill/>
          <a:ln w="9525">
            <a:solidFill>
              <a:srgbClr val="E5E7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0800" y="3050530"/>
            <a:ext cx="7836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LOC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91500" y="3050530"/>
            <a:ext cx="4535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2,200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30800" y="3587055"/>
            <a:ext cx="3905399" cy="447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47194" y="3739455"/>
            <a:ext cx="36726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Reactome = 1-2 hours (vs. weeks of custom integration)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Pillar 2: Deterministic Nodes, Agentic Edges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1412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Intentional Separation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42752"/>
            <a:ext cx="2582317" cy="920651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6437" y="1733252"/>
            <a:ext cx="22453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437" y="2006203"/>
            <a:ext cx="2245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FastMCP endpoints for verified node retrieval with canonical CURIEs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80767" y="1542752"/>
            <a:ext cx="2582317" cy="92065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49254" y="1733252"/>
            <a:ext cx="22453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SKILLS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49254" y="2006203"/>
            <a:ext cx="2245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curl-based workflows for agentic edge discovery without protocol overhead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53584" y="1542752"/>
            <a:ext cx="2582317" cy="92065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22071" y="1733252"/>
            <a:ext cx="22453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GRAPHITI MEMORY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22071" y="2006203"/>
            <a:ext cx="2245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episodes to persist validated research findings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653903"/>
            <a:ext cx="8128099" cy="81915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8450" y="2806303"/>
            <a:ext cx="79020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separate?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8450" y="3034903"/>
            <a:ext cx="79020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carries JSON-RPC protocol overhead (~100ms/call). For bulk edge discovery (10-50 calls/workflow), direct curl is more efficient. Agents choose the right tool for the job.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625453"/>
            <a:ext cx="1936849" cy="336352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7000" y="3625453"/>
            <a:ext cx="0" cy="3363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551" y="3726954"/>
            <a:ext cx="17296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lifesciences-genomics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71750" y="3625453"/>
            <a:ext cx="1936849" cy="336352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590800" y="3625453"/>
            <a:ext cx="0" cy="3363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1351" y="3726954"/>
            <a:ext cx="17296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lifesciences-proteomics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35550" y="3625453"/>
            <a:ext cx="1936849" cy="336352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4600" y="3625453"/>
            <a:ext cx="0" cy="3363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5150" y="3726954"/>
            <a:ext cx="17296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lifesciences-pharmacology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99349" y="3625453"/>
            <a:ext cx="1936849" cy="336352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718399" y="3625453"/>
            <a:ext cx="0" cy="3363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8950" y="3726954"/>
            <a:ext cx="17296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lifesciences-clinical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Fuzzy-to-Fact Protocol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88827"/>
            <a:ext cx="4015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the Identifier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425327"/>
            <a:ext cx="3937099" cy="847576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425327"/>
            <a:ext cx="0" cy="847576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975" y="1552277"/>
            <a:ext cx="36563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(FUZZY)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7975" y="1745903"/>
            <a:ext cx="3656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"BRCA1" -&gt; Ranked candidates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7975" y="1879253"/>
            <a:ext cx="3656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HGNC:1100 (score: 1.0)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975" y="2012603"/>
            <a:ext cx="3656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HGNC:1101 (score: 0.8)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2399854"/>
            <a:ext cx="3937099" cy="980926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1763" y="2399854"/>
            <a:ext cx="0" cy="98092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975" y="2526804"/>
            <a:ext cx="36563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(STRICT)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7975" y="2720429"/>
            <a:ext cx="3656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"HGNC:1100" -&gt; Complete record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7975" y="2853779"/>
            <a:ext cx="3656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ensembl: ENSG00000012048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7975" y="2987129"/>
            <a:ext cx="3656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uniprot: ["P38398"]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7975" y="3120479"/>
            <a:ext cx="3656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entrez: "672"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1088827"/>
            <a:ext cx="4015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98950" y="1425327"/>
            <a:ext cx="228600" cy="2286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7829" y="1468189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54501" y="1425327"/>
            <a:ext cx="36531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hallucination</a:t>
            </a:r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Forces entity resolution before retrieval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98950" y="1812578"/>
            <a:ext cx="228600" cy="2286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77829" y="185544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54501" y="1812578"/>
            <a:ext cx="3569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self-healing</a:t>
            </a:r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Error envelopes include recovery hints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98950" y="2142679"/>
            <a:ext cx="228600" cy="2286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77829" y="218554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54501" y="2142679"/>
            <a:ext cx="36531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graph traversal</a:t>
            </a:r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Cross-references link across databases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98950" y="2555379"/>
            <a:ext cx="3937099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25901" y="2682329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{"error": {"code": "UNRESOLVED_ENTITY",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25901" y="2796629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"recovery_hint": "Use search_genes()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25901" y="2910929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to resolve to HGNC CURIE"}}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Pillar 3: Embracing Our Gaps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50727"/>
            <a:ext cx="40158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Positioning: What We're Not (Yet)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679377"/>
            <a:ext cx="3937099" cy="688777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679377"/>
            <a:ext cx="0" cy="688777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3001" y="1780877"/>
            <a:ext cx="3718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Ontology Keys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3001" y="1961852"/>
            <a:ext cx="3718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go_process, go_function, go_component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2444353"/>
            <a:ext cx="3937099" cy="688777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2444353"/>
            <a:ext cx="0" cy="688777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001" y="2545854"/>
            <a:ext cx="3718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Calibration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3001" y="2726829"/>
            <a:ext cx="3718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STRING-style benchmarking against gold standards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3209330"/>
            <a:ext cx="3937099" cy="688777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3209330"/>
            <a:ext cx="0" cy="688777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001" y="3310830"/>
            <a:ext cx="3718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Phenotype Integration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3001" y="3491805"/>
            <a:ext cx="3718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HPO support for phenotype-to-gene queries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974306"/>
            <a:ext cx="3937099" cy="688777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7000" y="3974306"/>
            <a:ext cx="0" cy="688777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001" y="4075807"/>
            <a:ext cx="3718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DrugMechDB Validation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3001" y="4256782"/>
            <a:ext cx="3718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standard benchmark not yet integrated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1050727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Philosophy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98950" y="1441252"/>
            <a:ext cx="3937099" cy="936427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22763" y="1441252"/>
            <a:ext cx="0" cy="936427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8975" y="1568202"/>
            <a:ext cx="36563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 prior art first (sections 1-6 of research docs)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8975" y="1838027"/>
            <a:ext cx="36563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articulate unique contributions (section 7)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8975" y="2107853"/>
            <a:ext cx="36563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Alignment with standards is a </a:t>
            </a:r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limitation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98950" y="2504629"/>
            <a:ext cx="3937099" cy="65395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89069" y="2631579"/>
            <a:ext cx="37568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"Embracing alignment with standards like TRAPI, Biolink, and the Fuzzy-to-Fact pattern means the work builds on proven foundations rather than reinventing them."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Standards Alignment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14127"/>
            <a:ext cx="49224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on Proven Foundations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51302" y="1114127"/>
            <a:ext cx="304444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51302" y="1504652"/>
            <a:ext cx="2984748" cy="539651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670352" y="1504652"/>
            <a:ext cx="0" cy="53965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41802" y="1631603"/>
            <a:ext cx="2694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NCATS Translator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41802" y="1774478"/>
            <a:ext cx="2694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TRAPI standard alignment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51302" y="2145804"/>
            <a:ext cx="2984748" cy="539651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670352" y="2145804"/>
            <a:ext cx="0" cy="53965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41802" y="2272754"/>
            <a:ext cx="2694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Bioregistry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41802" y="2415629"/>
            <a:ext cx="2694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CURIE prefixes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51302" y="2786955"/>
            <a:ext cx="2984748" cy="539651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70352" y="2786955"/>
            <a:ext cx="0" cy="53965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1802" y="2913906"/>
            <a:ext cx="2694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ELIXIR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41802" y="3056781"/>
            <a:ext cx="2694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life sciences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51302" y="3428107"/>
            <a:ext cx="2984748" cy="5715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76902" y="3580507"/>
            <a:ext cx="2733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 registry covers 10/15 major Biolink categories with documented gaps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504652"/>
          <a:ext cx="4825901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Standard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Compliance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TRAPI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EA8A7"/>
                          </a:solidFill>
                        </a:rPr>
                        <a:t>85%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Intentional deviations for 60% token reduction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Biolink Model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EA8A7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22-key cross-reference registry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W3C CURIE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EA8A7"/>
                          </a:solidFill>
                        </a:rPr>
                        <a:t>Full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Bioregistry-validated prefixes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BioThings Explorer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EA8A7"/>
                          </a:solidFill>
                        </a:rPr>
                        <a:t>Aligned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Federated API query patterns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Contributions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50727"/>
            <a:ext cx="40481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Add to the Field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387227"/>
            <a:ext cx="3968800" cy="37445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387227"/>
            <a:ext cx="0" cy="3744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3001" y="1507778"/>
            <a:ext cx="1047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Budgeting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837879"/>
            <a:ext cx="3968800" cy="37445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1837879"/>
            <a:ext cx="0" cy="3744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001" y="1958429"/>
            <a:ext cx="9428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Hints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288530"/>
            <a:ext cx="3968800" cy="37445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27000" y="2288530"/>
            <a:ext cx="0" cy="3744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001" y="2409081"/>
            <a:ext cx="13956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Fuzzy-to-Fact Protocol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739182"/>
            <a:ext cx="3968800" cy="37445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2739182"/>
            <a:ext cx="0" cy="3744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001" y="2859732"/>
            <a:ext cx="9284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Metrics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189833"/>
            <a:ext cx="3968800" cy="37445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7000" y="3189833"/>
            <a:ext cx="0" cy="3744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001" y="3310384"/>
            <a:ext cx="10721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 Classification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7250" y="1050727"/>
            <a:ext cx="40481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7250" y="1387227"/>
            <a:ext cx="3968800" cy="336352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4200" y="1488728"/>
            <a:ext cx="3789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5-15x</a:t>
            </a:r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 efficiency for batch operations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7250" y="1799779"/>
            <a:ext cx="3968800" cy="336352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94200" y="1901279"/>
            <a:ext cx="3789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</a:t>
            </a:r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multi-step workflows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7250" y="2212330"/>
            <a:ext cx="3968800" cy="336352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94200" y="2313831"/>
            <a:ext cx="3789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Teachable</a:t>
            </a:r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enforceable patterns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7250" y="2624882"/>
            <a:ext cx="3968800" cy="336352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94200" y="2726382"/>
            <a:ext cx="3789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</a:t>
            </a:r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graph quality scores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7250" y="3037433"/>
            <a:ext cx="3968800" cy="336352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94200" y="3138934"/>
            <a:ext cx="3789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</a:t>
            </a:r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capability validation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7250" y="3449985"/>
            <a:ext cx="3968800" cy="5206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57051" y="3576935"/>
            <a:ext cx="37891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Node retrieval (MCP) separated from edge discovery (curl) for protocol efficiency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165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Synthetic Lethality Target Discovery (ARID1A)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022152"/>
            <a:ext cx="8128099" cy="406301"/>
          </a:xfrm>
          <a:prstGeom prst="rect">
            <a:avLst/>
          </a:prstGeom>
          <a:solidFill>
            <a:srgbClr val="E8F6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022152"/>
            <a:ext cx="0" cy="40630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075" y="1149102"/>
            <a:ext cx="78534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me synthetic lethal partners for ARID1A in ovarian cancer"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1609427"/>
            <a:ext cx="228600" cy="2286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0401" y="1657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3501" y="1580852"/>
            <a:ext cx="7772549" cy="28575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90451" y="1657052"/>
            <a:ext cx="7669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hgnc_search_genes("ARID1A") -&gt; HGNC:11110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1971377"/>
            <a:ext cx="228600" cy="2286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0401" y="201900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3501" y="1942802"/>
            <a:ext cx="7772549" cy="28575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90451" y="2019002"/>
            <a:ext cx="7669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get_gene("HGNC:11110") -&gt; cross_references.ensembl_gene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950" y="2333327"/>
            <a:ext cx="228600" cy="2286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0401" y="23809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3501" y="2304752"/>
            <a:ext cx="7772549" cy="28575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90451" y="2380952"/>
            <a:ext cx="7669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string_get_interactions(...) -&gt; EZH2 (0.999), SMARCC1 (0.997)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2695277"/>
            <a:ext cx="228600" cy="2286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0401" y="274290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3501" y="2666702"/>
            <a:ext cx="7772549" cy="28575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90451" y="2742902"/>
            <a:ext cx="7669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chembl_search_compounds("EZH2 inhibitor") -&gt; Tazemetostat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7950" y="3057227"/>
            <a:ext cx="228600" cy="2286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0401" y="31048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3501" y="3028652"/>
            <a:ext cx="7772549" cy="28575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90451" y="3104852"/>
            <a:ext cx="7669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clinicaltrials_search_trials("Tazemetostat ARID1A") -&gt; NCT03348631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950" y="3466802"/>
            <a:ext cx="8128099" cy="64755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80759" y="3593753"/>
            <a:ext cx="9759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INSIGHT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80759" y="3777853"/>
            <a:ext cx="9759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124804" y="3593753"/>
            <a:ext cx="6214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24804" y="3777853"/>
            <a:ext cx="6214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Week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12714" y="3593753"/>
            <a:ext cx="1146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API CALLS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12714" y="3777853"/>
            <a:ext cx="11464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20439" y="3593753"/>
            <a:ext cx="1144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RECONCILIATION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20439" y="3777853"/>
            <a:ext cx="11443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41895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Building Grounded Biomedical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25277"/>
            <a:ext cx="1889224" cy="150346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044327"/>
            <a:ext cx="1889224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253877"/>
            <a:ext cx="15383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Researchers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8450" y="1526828"/>
            <a:ext cx="153838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platform for drug discovery workflows. Test the 15 competency questions in our catalog.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87675" y="1025277"/>
            <a:ext cx="1889224" cy="150346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587675" y="1044327"/>
            <a:ext cx="1889224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8175" y="1253877"/>
            <a:ext cx="15383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Bioinformaticians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78175" y="1698278"/>
            <a:ext cx="153838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 API wrappers via /scaffold-fastmcp. Help close the Gene Ontology and HPO gaps.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7399" y="1025277"/>
            <a:ext cx="1889224" cy="150346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67399" y="1044327"/>
            <a:ext cx="1889224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7899" y="1253877"/>
            <a:ext cx="15383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 Engineers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57899" y="1526828"/>
            <a:ext cx="153838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agents using MCP tools + platform skills. Explore Fuzzy-to-Fact for other domains.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47123" y="1025277"/>
            <a:ext cx="1889224" cy="150346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47123" y="1044327"/>
            <a:ext cx="1889224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7623" y="1253877"/>
            <a:ext cx="15383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Standards Bodies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7623" y="1698278"/>
            <a:ext cx="153838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 align with TRAPI, Biolink, DrugMechDB. Validate our cross-reference registry.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6669" y="2973139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identifiers. Structured responses. Grounded AI.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448175"/>
            <a:ext cx="9144000" cy="695325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61331" y="4638675"/>
            <a:ext cx="12162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61331" y="4810125"/>
            <a:ext cx="12162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lifesciences-research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61692" y="4638675"/>
            <a:ext cx="2252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61692" y="4810125"/>
            <a:ext cx="22529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docs/platform-engineering-rationale.md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78401" y="4638675"/>
            <a:ext cx="20442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78401" y="4810125"/>
            <a:ext cx="20442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docs/adr/accepted/adr-001-v1.4.md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Sciences MCP Platform: Grounded AI for Drug Discovery</dc:title>
  <dc:subject>Drug Discovery Platform Pitch Deck</dc:subject>
  <dc:creator>Life Sciences MCP Platform</dc:creator>
  <cp:lastModifiedBy>Life Sciences MCP Platform</cp:lastModifiedBy>
  <cp:revision>1</cp:revision>
  <dcterms:created xsi:type="dcterms:W3CDTF">2026-01-26T21:42:55Z</dcterms:created>
  <dcterms:modified xsi:type="dcterms:W3CDTF">2026-01-26T21:42:55Z</dcterms:modified>
</cp:coreProperties>
</file>